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5" r:id="rId4"/>
    <p:sldId id="258" r:id="rId5"/>
    <p:sldId id="260" r:id="rId6"/>
    <p:sldId id="261" r:id="rId7"/>
    <p:sldId id="259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6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1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0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4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1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7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8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4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B7F85157-BC57-3EC4-916F-C5F4F47A0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2" r="-1" b="19123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C50C6-9618-3735-4307-B6234CB6F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S&amp;P 500 Price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B5A0D-BBA3-9A45-3031-05C282999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3552826"/>
            <a:ext cx="8720710" cy="2653653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Jeungsoo Noh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19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2E6C-0732-6A68-6372-237FB1E1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2964-CEFF-E487-AB21-006B3A682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52075"/>
            <a:ext cx="11155680" cy="3767328"/>
          </a:xfrm>
        </p:spPr>
        <p:txBody>
          <a:bodyPr/>
          <a:lstStyle/>
          <a:p>
            <a:r>
              <a:rPr lang="en-US" dirty="0"/>
              <a:t>In this project, I aimed to predict the next-day closing price of the S&amp;P 500 index using historical stock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input</a:t>
            </a:r>
            <a:r>
              <a:rPr lang="en-US" dirty="0"/>
              <a:t> is a set of technical indicators derived from past prices — like moving averages, momentum (</a:t>
            </a:r>
            <a:r>
              <a:rPr lang="en-US" sz="1600" dirty="0"/>
              <a:t>how fast the price is changing</a:t>
            </a:r>
            <a:r>
              <a:rPr lang="en-US" dirty="0"/>
              <a:t>)  indicators, and volatility measures.</a:t>
            </a:r>
          </a:p>
          <a:p>
            <a:r>
              <a:rPr lang="en-US" dirty="0"/>
              <a:t>The </a:t>
            </a:r>
            <a:r>
              <a:rPr lang="en-US" b="1" dirty="0"/>
              <a:t>output</a:t>
            </a:r>
            <a:r>
              <a:rPr lang="en-US" dirty="0"/>
              <a:t> is a predicted closing price for the following trading day.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motivation: If we can predict market trends even modestly well, this could have real value in finance and risk management. Wanted to test out several models learned in class. </a:t>
            </a:r>
          </a:p>
          <a:p>
            <a:r>
              <a:rPr lang="en-US" dirty="0"/>
              <a:t>Data is from Nasdaq</a:t>
            </a:r>
          </a:p>
        </p:txBody>
      </p:sp>
    </p:spTree>
    <p:extLst>
      <p:ext uri="{BB962C8B-B14F-4D97-AF65-F5344CB8AC3E}">
        <p14:creationId xmlns:p14="http://schemas.microsoft.com/office/powerpoint/2010/main" val="52963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DC45-E5F2-0999-824D-3CC7F59D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96D1C-7D28-5283-4C08-792CDBE23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112" y="1960881"/>
            <a:ext cx="3953427" cy="387502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F0FA10-2537-C66E-DF7C-2DFC4954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69" y="2147905"/>
            <a:ext cx="5647251" cy="36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6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0580-E7BF-64FD-3D88-4BA8F0FC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59FD-D97D-A6E6-BA83-C528588AD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09928"/>
            <a:ext cx="11155680" cy="3767328"/>
          </a:xfrm>
        </p:spPr>
        <p:txBody>
          <a:bodyPr/>
          <a:lstStyle/>
          <a:p>
            <a:r>
              <a:rPr lang="en-US" dirty="0"/>
              <a:t>SMA(simple moving average)  and  EMA (Exponential moving average)</a:t>
            </a:r>
          </a:p>
          <a:p>
            <a:pPr lvl="1"/>
            <a:r>
              <a:rPr lang="en-US" dirty="0"/>
              <a:t>EMA focuses on most recent weight</a:t>
            </a:r>
          </a:p>
          <a:p>
            <a:r>
              <a:rPr lang="en-US" dirty="0"/>
              <a:t>MACD(short-term and long-term EMA) and Signal Line(Smoothed version of MACD)</a:t>
            </a:r>
          </a:p>
          <a:p>
            <a:r>
              <a:rPr lang="en-US" dirty="0"/>
              <a:t>Bollinger Bands(high and low) for volatility</a:t>
            </a:r>
          </a:p>
          <a:p>
            <a:r>
              <a:rPr lang="en-US" dirty="0"/>
              <a:t>RSI (Momentum indicator that tells whether stock is overbought or oversold) </a:t>
            </a:r>
          </a:p>
          <a:p>
            <a:pPr lvl="1"/>
            <a:r>
              <a:rPr lang="en-US" dirty="0"/>
              <a:t>Overbought</a:t>
            </a:r>
            <a:r>
              <a:rPr lang="en-US" dirty="0">
                <a:sym typeface="Wingdings" panose="05000000000000000000" pitchFamily="2" charset="2"/>
              </a:rPr>
              <a:t> price increased too quick</a:t>
            </a:r>
            <a:endParaRPr lang="en-US" dirty="0"/>
          </a:p>
          <a:p>
            <a:r>
              <a:rPr lang="en-US" dirty="0"/>
              <a:t>Raw price features:  Open, High, Low</a:t>
            </a:r>
          </a:p>
        </p:txBody>
      </p:sp>
    </p:spTree>
    <p:extLst>
      <p:ext uri="{BB962C8B-B14F-4D97-AF65-F5344CB8AC3E}">
        <p14:creationId xmlns:p14="http://schemas.microsoft.com/office/powerpoint/2010/main" val="46494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7CC7D-B8E8-6A7E-318B-E4B80110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276856"/>
          </a:xfrm>
        </p:spPr>
        <p:txBody>
          <a:bodyPr>
            <a:normAutofit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C5FE1C-310B-4F6B-A44A-BC43430A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08F47-8A87-CD6E-DDC1-D9DC0ECF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166" y="664000"/>
            <a:ext cx="5011957" cy="2485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07D911-E79B-A496-AFA1-B28D26A1A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44" y="2509520"/>
            <a:ext cx="5637648" cy="32851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8806E-6824-D702-7817-2B793443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6" y="4268216"/>
            <a:ext cx="5010912" cy="2798064"/>
          </a:xfrm>
        </p:spPr>
        <p:txBody>
          <a:bodyPr anchor="b">
            <a:normAutofit/>
          </a:bodyPr>
          <a:lstStyle/>
          <a:p>
            <a:r>
              <a:rPr lang="en-US" dirty="0"/>
              <a:t>Dealing with missing data: SMA 100 is empty for first 100 days, EMA 26 is empty for first 26 days to be calculated </a:t>
            </a:r>
            <a:r>
              <a:rPr lang="en-US" dirty="0">
                <a:sym typeface="Wingdings" panose="05000000000000000000" pitchFamily="2" charset="2"/>
              </a:rPr>
              <a:t> </a:t>
            </a:r>
          </a:p>
          <a:p>
            <a:r>
              <a:rPr lang="en-US" dirty="0">
                <a:sym typeface="Wingdings" panose="05000000000000000000" pitchFamily="2" charset="2"/>
              </a:rPr>
              <a:t>began calculating after 100 days instead of using </a:t>
            </a:r>
            <a:r>
              <a:rPr lang="en-US" dirty="0" err="1">
                <a:sym typeface="Wingdings" panose="05000000000000000000" pitchFamily="2" charset="2"/>
              </a:rPr>
              <a:t>SimpleImputer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SimpleImputer</a:t>
            </a:r>
            <a:r>
              <a:rPr lang="en-US" dirty="0">
                <a:sym typeface="Wingdings" panose="05000000000000000000" pitchFamily="2" charset="2"/>
              </a:rPr>
              <a:t> duplicated the values until the calculation( for SMA_100, 99 row had same values)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AEDA52-8690-F9A2-0F09-371FFFC6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after Data preprocessing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DAA279-ACA3-2AA8-64F2-6BDF7CA18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11989-DEB4-834C-703A-FBB26CD925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5968" y="2340864"/>
            <a:ext cx="5552440" cy="400437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3D40A3-40AD-8337-E488-87F05B0F4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2E9182-05C6-D687-6827-AF403078E6A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EMA tells how recent price is moving. </a:t>
            </a:r>
          </a:p>
          <a:p>
            <a:r>
              <a:rPr lang="en-US" dirty="0"/>
              <a:t>MACD line &gt; signal line = Buy signal, and vice versa for other way around.</a:t>
            </a:r>
          </a:p>
          <a:p>
            <a:r>
              <a:rPr lang="en-US" dirty="0"/>
              <a:t>Bollinger tells how volatile the price 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79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48FF-8693-9133-9D41-3B969734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A324F-EC64-FE0F-0AB8-DE50B8572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64505"/>
            <a:ext cx="11155680" cy="3767328"/>
          </a:xfrm>
        </p:spPr>
        <p:txBody>
          <a:bodyPr/>
          <a:lstStyle/>
          <a:p>
            <a:r>
              <a:rPr lang="en-US" b="1" dirty="0"/>
              <a:t>Linear Regression</a:t>
            </a:r>
          </a:p>
          <a:p>
            <a:r>
              <a:rPr lang="en-US" b="1" dirty="0"/>
              <a:t>Random Forest</a:t>
            </a:r>
          </a:p>
          <a:p>
            <a:r>
              <a:rPr lang="en-US" b="1" dirty="0" err="1"/>
              <a:t>XGBoost</a:t>
            </a:r>
            <a:endParaRPr lang="en-US" b="1" dirty="0"/>
          </a:p>
          <a:p>
            <a:r>
              <a:rPr lang="en-US" b="1" dirty="0"/>
              <a:t>Support Vector Regression(SVR)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538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8B9A-9F3F-E915-CAD4-7603810A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44B875A-2A4F-23C0-9F3F-8F555827A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5914360"/>
            <a:ext cx="11155680" cy="4315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actual closing price of April 3</a:t>
            </a:r>
            <a:r>
              <a:rPr lang="en-US" baseline="30000" dirty="0"/>
              <a:t>rd</a:t>
            </a:r>
            <a:r>
              <a:rPr lang="en-US" dirty="0"/>
              <a:t> was 5492.74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04B442-BB9F-7512-7409-18E63A75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37" y="1579880"/>
            <a:ext cx="2800464" cy="4334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40CF79-535A-907D-84D3-B7B7997A0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1" y="1579881"/>
            <a:ext cx="2997199" cy="41605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41F184-11D8-C907-A048-146BD4048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851" y="1601123"/>
            <a:ext cx="2579149" cy="41392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7A070A-35E7-A2DE-05EA-C9203EAFC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31204"/>
            <a:ext cx="3516851" cy="420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5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4F60-8BB0-4764-64AF-2BCE3D64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59E5-2884-B06E-A4C6-8E6ACFFF2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8" y="1825074"/>
            <a:ext cx="11484354" cy="5032925"/>
          </a:xfrm>
        </p:spPr>
        <p:txBody>
          <a:bodyPr>
            <a:normAutofit/>
          </a:bodyPr>
          <a:lstStyle/>
          <a:p>
            <a:r>
              <a:rPr lang="en-US" dirty="0"/>
              <a:t>Linear Regression achieved an </a:t>
            </a:r>
            <a:r>
              <a:rPr lang="en-US" b="1" dirty="0"/>
              <a:t>R² score of 0.965</a:t>
            </a:r>
            <a:r>
              <a:rPr lang="en-US" dirty="0"/>
              <a:t>, meaning it could explain over 96% of the variance in the next-day price. The </a:t>
            </a:r>
            <a:r>
              <a:rPr lang="en-US" b="1" dirty="0"/>
              <a:t>MAE was around 39</a:t>
            </a:r>
            <a:r>
              <a:rPr lang="en-US" dirty="0"/>
              <a:t>, which is quite reasonable for financial data.</a:t>
            </a:r>
          </a:p>
          <a:p>
            <a:r>
              <a:rPr lang="en-US" b="1" dirty="0"/>
              <a:t>Random Forest</a:t>
            </a:r>
            <a:r>
              <a:rPr lang="en-US" dirty="0"/>
              <a:t> and </a:t>
            </a:r>
            <a:r>
              <a:rPr lang="en-US" b="1" dirty="0" err="1"/>
              <a:t>XGBoost</a:t>
            </a:r>
            <a:r>
              <a:rPr lang="en-US" dirty="0"/>
              <a:t> severely underfit the data, with R² scores below 0.</a:t>
            </a:r>
          </a:p>
          <a:p>
            <a:r>
              <a:rPr lang="en-US" b="1" dirty="0"/>
              <a:t>SVR</a:t>
            </a:r>
            <a:r>
              <a:rPr lang="en-US" dirty="0"/>
              <a:t>, even after scaling, still failed to generalize, possibly due to overfitting or sensitivity to hyperparameters. It failed the worst</a:t>
            </a:r>
          </a:p>
          <a:p>
            <a:r>
              <a:rPr lang="en-US" dirty="0"/>
              <a:t>I manually set the C, gamma and epsilon for SVR</a:t>
            </a:r>
          </a:p>
          <a:p>
            <a:r>
              <a:rPr lang="en-US" dirty="0"/>
              <a:t>I used </a:t>
            </a:r>
            <a:r>
              <a:rPr lang="en-US" dirty="0" err="1"/>
              <a:t>GridSearchCV</a:t>
            </a:r>
            <a:r>
              <a:rPr lang="en-US" dirty="0"/>
              <a:t> to tune hyperparameters. It evaluated 32 combinations, each with 3-fold cross-validation, so a total of 96 models were trained.</a:t>
            </a:r>
          </a:p>
          <a:p>
            <a:r>
              <a:rPr lang="en-US" dirty="0"/>
              <a:t>All models treated the input features </a:t>
            </a:r>
            <a:r>
              <a:rPr lang="en-US" b="1" dirty="0"/>
              <a:t>like static data</a:t>
            </a:r>
            <a:r>
              <a:rPr lang="en-US" dirty="0"/>
              <a:t>, not time-series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  <a:p>
            <a:r>
              <a:rPr lang="en-US" dirty="0">
                <a:sym typeface="Wingdings" panose="05000000000000000000" pitchFamily="2" charset="2"/>
              </a:rPr>
              <a:t>Stock price is non-stationary, so mean and trend change over time. </a:t>
            </a:r>
          </a:p>
          <a:p>
            <a:r>
              <a:rPr lang="en-US" dirty="0">
                <a:sym typeface="Wingdings" panose="05000000000000000000" pitchFamily="2" charset="2"/>
              </a:rPr>
              <a:t>Maybe that is why it led to failure.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86E581-57A8-EB20-01C0-92406F011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757" y="4495470"/>
            <a:ext cx="3620005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8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6B45-6E2D-16B3-4DC9-F2E28DD9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920FA-84DC-3956-7764-C397E0A4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/>
          <a:lstStyle/>
          <a:p>
            <a:r>
              <a:rPr lang="en-US" dirty="0"/>
              <a:t>Even simple model like Linear Regression can somewhat perform well.</a:t>
            </a:r>
          </a:p>
          <a:p>
            <a:r>
              <a:rPr lang="en-US" dirty="0"/>
              <a:t>Due to efficient market hypothesis, it still will be hard to predict the stock price. Stock prices reflect all information, public and private. </a:t>
            </a:r>
          </a:p>
          <a:p>
            <a:r>
              <a:rPr lang="en-US" dirty="0"/>
              <a:t>Effect of noise is huge in the stock market. “Trump’s word on anything can change the market easily”</a:t>
            </a:r>
          </a:p>
          <a:p>
            <a:r>
              <a:rPr lang="en-US" dirty="0"/>
              <a:t>Perhaps using time series model such as LSTM(Long Short-Term Memory) model might help but it may not be the accurate algorithm to predict (I was not proficient enough to do 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0788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558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Wingdings</vt:lpstr>
      <vt:lpstr>GestaltVTI</vt:lpstr>
      <vt:lpstr>S&amp;P 500 Price Prediction</vt:lpstr>
      <vt:lpstr>Problem Statement</vt:lpstr>
      <vt:lpstr>Data</vt:lpstr>
      <vt:lpstr>Features</vt:lpstr>
      <vt:lpstr>Data Preprocessing</vt:lpstr>
      <vt:lpstr>Visualization after Data preprocessing</vt:lpstr>
      <vt:lpstr>Algorithm used</vt:lpstr>
      <vt:lpstr>Results</vt:lpstr>
      <vt:lpstr>Results</vt:lpstr>
      <vt:lpstr>Future direction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Jeungsoo Noh</dc:creator>
  <cp:lastModifiedBy>Jeungsoo Noh</cp:lastModifiedBy>
  <cp:revision>3</cp:revision>
  <dcterms:created xsi:type="dcterms:W3CDTF">2025-04-23T15:49:46Z</dcterms:created>
  <dcterms:modified xsi:type="dcterms:W3CDTF">2025-04-24T00:58:51Z</dcterms:modified>
</cp:coreProperties>
</file>